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Real Estate Exploratory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Housing Prices</a:t>
            </a:r>
          </a:p>
          <a:p>
            <a:r>
              <a:t>1460 Properties Analyzed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1460 properties with 90 features</a:t>
            </a:r>
          </a:p>
          <a:p>
            <a:pPr>
              <a:defRPr sz="1800"/>
            </a:pPr>
            <a:r>
              <a:t>Price Range: $34,900 - $755,000</a:t>
            </a:r>
          </a:p>
          <a:p>
            <a:pPr>
              <a:defRPr sz="1800"/>
            </a:pPr>
            <a:r>
              <a:t>Median Price: $163,000</a:t>
            </a:r>
          </a:p>
          <a:p>
            <a:pPr>
              <a:defRPr sz="1800"/>
            </a:pPr>
            <a:r>
              <a:t>Average Price: $180,921</a:t>
            </a:r>
          </a:p>
          <a:p>
            <a:pPr>
              <a:defRPr sz="1800"/>
            </a:pPr>
            <a:r>
              <a:t>Key Features Created: 9 engineered features</a:t>
            </a:r>
          </a:p>
          <a:p>
            <a:pPr>
              <a:defRPr sz="1800"/>
            </a:pPr>
            <a:r>
              <a:t>Analysis Includes: Distributions, Correlations, Trends, Clusters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SalePrice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Distribution shows central tendency, spread, skewness, and outliers in house prices.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2697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SalePrice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Mean: $180,921.20</a:t>
            </a:r>
          </a:p>
          <a:p>
            <a:pPr>
              <a:defRPr sz="1800"/>
            </a:pPr>
            <a:r>
              <a:t>Median: $163,000.00</a:t>
            </a:r>
          </a:p>
          <a:p>
            <a:pPr>
              <a:defRPr sz="1800"/>
            </a:pPr>
            <a:r>
              <a:t>Standard Deviation: $79,442.50</a:t>
            </a:r>
          </a:p>
          <a:p>
            <a:pPr>
              <a:defRPr sz="1800"/>
            </a:pPr>
            <a:r>
              <a:t>Minimum: $34,900</a:t>
            </a:r>
          </a:p>
          <a:p>
            <a:pPr>
              <a:defRPr sz="1800"/>
            </a:pPr>
            <a:r>
              <a:t>Maximum: $755,000</a:t>
            </a:r>
          </a:p>
          <a:p>
            <a:pPr>
              <a:defRPr sz="1800"/>
            </a:pPr>
            <a:r>
              <a:t>25th Percentile: $129,975</a:t>
            </a:r>
          </a:p>
          <a:p>
            <a:pPr>
              <a:defRPr sz="1800"/>
            </a:pPr>
            <a:r>
              <a:t>75th Percentile: $214,000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Correlations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Top features ranked by correlation with SalePrice. Green indicates positive correlation, red negative.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97355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GrLivArea Impact on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Relationship between GrLivArea and sale price. Look for linear trends and outliers.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TotalBsmtSF Impact on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Relationship between TotalBsmtSF and sale price. Look for linear trends and outliers.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GarageArea Impact on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Relationship between GarageArea and sale price. Look for linear trends and outliers.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OverallQual Impact on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Relationship between OverallQual and sale price. Look for linear trends and outliers.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GrLivArea Price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Trend line shows the marginal effect of GrLivArea on house price.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TotalFinishedSF Price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Trend line shows the marginal effect of TotalFinishedSF on house price.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BathsTotal Price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Trend line shows the marginal effect of BathsTotal on house price.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Neighborhood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Price variation across different Neighborhood categories, sorted by median price.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155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HouseStyle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Price variation across different HouseStyle categories, sorted by median price.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1553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BldgType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Price variation across different BldgType categories, sorted by median price.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1553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HasGarage Value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Median price difference: $67,500 (67.5% premium). Shows value added by this amenity.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47665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HasDeck Value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Median price difference: $42,848 (29.7% premium). Shows value added by this amenity.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476655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HasFireplace Value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Median price difference: $56,000 (41.5% premium). Shows value added by this amenity.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47665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HasPool Value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Median price difference: $72,100 (44.3% premium). Shows value added by this amenity.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47665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Monthly Price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Median sale price over time showing seasonal patterns and market momentum.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1553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Yearly Price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Year-over-year median price changes showing market appreciation or depreciation.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Properties grouped into 4 clusters based on GrLivArea, BathsTotal, GarageCars, TotalBsmtSF. Reveals distinct price segments.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37970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Strong correlations: Overall Quality, Living Area, and Total Basement SF drive prices</a:t>
            </a:r>
          </a:p>
          <a:p>
            <a:pPr>
              <a:defRPr sz="1800"/>
            </a:pPr>
            <a:r>
              <a:t>Location matters: Neighborhood has significant impact on property values</a:t>
            </a:r>
          </a:p>
          <a:p>
            <a:pPr>
              <a:defRPr sz="1800"/>
            </a:pPr>
            <a:r>
              <a:t>Size premium: Larger homes and more bathrooms command higher prices</a:t>
            </a:r>
          </a:p>
          <a:p>
            <a:pPr>
              <a:defRPr sz="1800"/>
            </a:pPr>
            <a:r>
              <a:t>Amenities add value: Garage, fireplace, and deck increase median prices</a:t>
            </a:r>
          </a:p>
          <a:p>
            <a:pPr>
              <a:defRPr sz="1800"/>
            </a:pPr>
            <a:r>
              <a:t>Market timing: Seasonal and yearly trends affect sale prices</a:t>
            </a:r>
          </a:p>
          <a:p>
            <a:pPr>
              <a:defRPr sz="1800"/>
            </a:pPr>
            <a:r>
              <a:t>Distinct segments: Properties cluster into clear price and feature groups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Focus on quality improvements: Overall quality has highest correlation with price</a:t>
            </a:r>
          </a:p>
          <a:p>
            <a:pPr>
              <a:defRPr sz="1800"/>
            </a:pPr>
            <a:r>
              <a:t>Maximize living space: GrLivArea strongly predicts higher sale prices</a:t>
            </a:r>
          </a:p>
          <a:p>
            <a:pPr>
              <a:defRPr sz="1800"/>
            </a:pPr>
            <a:r>
              <a:t>Location strategy: Target high-value neighborhoods for investments</a:t>
            </a:r>
          </a:p>
          <a:p>
            <a:pPr>
              <a:defRPr sz="1800"/>
            </a:pPr>
            <a:r>
              <a:t>Add value amenities: Consider garage, basement finishing, and fireplaces</a:t>
            </a:r>
          </a:p>
          <a:p>
            <a:pPr>
              <a:defRPr sz="1800"/>
            </a:pPr>
            <a:r>
              <a:t>Market timing: Be aware of seasonal patterns when listing properties</a:t>
            </a:r>
          </a:p>
          <a:p>
            <a:pPr>
              <a:defRPr sz="1800"/>
            </a:pPr>
            <a:r>
              <a:t>Segment marketing: Tailor strategies to different property clusters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